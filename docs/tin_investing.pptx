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8" r:id="rId4"/>
    <p:sldId id="270" r:id="rId5"/>
    <p:sldId id="259" r:id="rId6"/>
    <p:sldId id="262" r:id="rId7"/>
    <p:sldId id="261" r:id="rId8"/>
    <p:sldId id="271" r:id="rId9"/>
    <p:sldId id="263" r:id="rId10"/>
    <p:sldId id="264" r:id="rId11"/>
    <p:sldId id="265" r:id="rId12"/>
    <p:sldId id="266" r:id="rId13"/>
    <p:sldId id="268" r:id="rId14"/>
    <p:sldId id="272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87"/>
  </p:normalViewPr>
  <p:slideViewPr>
    <p:cSldViewPr snapToGrid="0">
      <p:cViewPr varScale="1">
        <p:scale>
          <a:sx n="95" d="100"/>
          <a:sy n="95" d="100"/>
        </p:scale>
        <p:origin x="200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26FE9-53AB-A845-B547-8D6ABEEB7D7C}" type="datetimeFigureOut">
              <a:rPr lang="es-CO" smtClean="0"/>
              <a:t>7/12/25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92907A-D862-2A46-B8C2-C332B659610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9679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92907A-D862-2A46-B8C2-C332B6596104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094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EF16A-3918-CC56-D7DF-43A56F85C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02EA20-4E50-DAFF-9DCF-CB6397CA9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9B8DB8-1D81-23DA-87AD-CF3EFE6ED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ED53-B691-EF46-99E2-EA415E13F9BA}" type="datetimeFigureOut">
              <a:rPr lang="es-CO" smtClean="0"/>
              <a:t>7/12/25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18F15E-D545-AF17-6F0A-74D282FB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1E75DD-428E-D9A0-65A0-9FA70D51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C4CCD-EEFE-AB43-822C-9CA32C46B4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689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71CC2-8D8E-52EB-84DC-E6A7619F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BCC428-EDF3-C197-1B6F-A80B217E6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797BE3-C5F0-B850-EDF1-898602C7C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ED53-B691-EF46-99E2-EA415E13F9BA}" type="datetimeFigureOut">
              <a:rPr lang="es-CO" smtClean="0"/>
              <a:t>7/12/25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5F279B-5140-94E2-61BE-1C16D8CF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D49BEE-1F15-7F40-2E85-FEDA69C5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C4CCD-EEFE-AB43-822C-9CA32C46B4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629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33F49-85B2-E1C8-36E5-F47AEB25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E14A04-BBBD-D4A9-8A2F-2DEE6DD43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A1A397-4BDE-F11A-9D9F-B32BEC05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ED53-B691-EF46-99E2-EA415E13F9BA}" type="datetimeFigureOut">
              <a:rPr lang="es-CO" smtClean="0"/>
              <a:t>7/12/25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68F1D1-680C-8952-EBD7-D3546040A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0C1BEE-1BAE-06D8-8966-D4CB2041B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C4CCD-EEFE-AB43-822C-9CA32C46B4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479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D4925-02F0-289E-63DB-ADFD1C46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688545-B694-ACF6-0A7B-3FC025746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363885-D630-9C5D-1B45-E747A4FFA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5E0971-CD5B-1618-D873-D7FAEA72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ED53-B691-EF46-99E2-EA415E13F9BA}" type="datetimeFigureOut">
              <a:rPr lang="es-CO" smtClean="0"/>
              <a:t>7/12/25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C2C896-8FE1-F210-5089-8B04E1412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92C9DB-42B0-9083-538C-68E064A4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C4CCD-EEFE-AB43-822C-9CA32C46B4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841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2E53C-0E3E-F5B1-C510-1684BE790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411437-EF49-20F5-5244-19F7FD01A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788DC2-2383-63D5-3BA8-121D28390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6EE185-2564-5CAE-F653-EA55C4E98A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BE63572-E5D3-3C40-6F39-208D0DC090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48BBF43-4C36-C982-3FBD-C41EF4DC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ED53-B691-EF46-99E2-EA415E13F9BA}" type="datetimeFigureOut">
              <a:rPr lang="es-CO" smtClean="0"/>
              <a:t>7/12/25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667952C-C57C-1DD4-8E05-2A297DDA4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37A549E-9FB5-5840-AFA3-5E920765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C4CCD-EEFE-AB43-822C-9CA32C46B4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3742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413B6-BEF0-82ED-6175-6F572A16E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A3596B-A154-E58C-DBCA-2D0BFC1C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ED53-B691-EF46-99E2-EA415E13F9BA}" type="datetimeFigureOut">
              <a:rPr lang="es-CO" smtClean="0"/>
              <a:t>7/12/25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253024-B6AA-B298-DA7C-9FA6422FB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7CC610-63B2-5164-91B0-33F49D7E9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C4CCD-EEFE-AB43-822C-9CA32C46B4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6927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C10DF29-855B-2C11-8E8C-B034E0DF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ED53-B691-EF46-99E2-EA415E13F9BA}" type="datetimeFigureOut">
              <a:rPr lang="es-CO" smtClean="0"/>
              <a:t>7/12/25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13F9DC3-BA07-ED01-C985-AAC5097F3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BF570B-C411-C91E-B7CC-41D244CB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C4CCD-EEFE-AB43-822C-9CA32C46B4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717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E3BD1-A5A2-E641-205B-21D43398A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D6BA8D-4BD5-72AD-DD39-DBAFBA4C4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F5F91DD-C8C6-6305-1577-DADA20D80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C94FF3-7923-0EC5-AA52-B03CF5406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ED53-B691-EF46-99E2-EA415E13F9BA}" type="datetimeFigureOut">
              <a:rPr lang="es-CO" smtClean="0"/>
              <a:t>7/12/25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CF20B8-44C6-C57B-C1E7-44A171212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20E64C-C342-79C3-D897-B2DD8027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C4CCD-EEFE-AB43-822C-9CA32C46B4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634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44B73-9E0C-F8C6-96E2-E3CEBD88D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08342B1-EBE7-2054-8E02-9867C339A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04A188-5508-1351-88BC-FA4414FD8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32382C-EB22-14E7-A35B-F17C62DF8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ED53-B691-EF46-99E2-EA415E13F9BA}" type="datetimeFigureOut">
              <a:rPr lang="es-CO" smtClean="0"/>
              <a:t>7/12/25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3B6B4C-5B35-EDED-263B-9F8297D13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1AECD8-A9BE-ABB5-5A26-93AE120EF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C4CCD-EEFE-AB43-822C-9CA32C46B4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160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2ED31-BB3A-67A7-0852-33E63133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B71691-0475-C66B-0120-27E2F8753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8EBA46-1E85-F083-B730-A387F306A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ED53-B691-EF46-99E2-EA415E13F9BA}" type="datetimeFigureOut">
              <a:rPr lang="es-CO" smtClean="0"/>
              <a:t>7/12/25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68ED89-859A-1AED-D4DE-86BB3E95E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2C08AE-F37A-6078-CDF1-1F5977AC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C4CCD-EEFE-AB43-822C-9CA32C46B4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6159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CFCAF9-3D44-2515-2691-326B94BA9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FDF52D-37F0-3828-3024-ACF940718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50E433-7432-8804-6918-343A99AF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ED53-B691-EF46-99E2-EA415E13F9BA}" type="datetimeFigureOut">
              <a:rPr lang="es-CO" smtClean="0"/>
              <a:t>7/12/25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A9A16A-C403-98DD-244C-EEDBB809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808341-852B-746C-82B5-703509E6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C4CCD-EEFE-AB43-822C-9CA32C46B4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9501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E52649-0E54-D599-0233-1F4E6318B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B0FC51-A496-EAB6-3F8B-56158630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89DA20-2FF2-8969-834B-1E53C832C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28ED53-B691-EF46-99E2-EA415E13F9BA}" type="datetimeFigureOut">
              <a:rPr lang="es-CO" smtClean="0"/>
              <a:t>7/12/25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EFF662-DAC0-9B42-2FC7-30D0F53E8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39ADB8-5CF5-7AE4-1B95-114F05337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C4CCD-EEFE-AB43-822C-9CA32C46B4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744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5E6FE-33C0-EAD3-1D5C-EA4912ACF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Diagnóstico de Salud y Ruta de Rentabilidad - </a:t>
            </a:r>
            <a:r>
              <a:rPr lang="es-CO" dirty="0" err="1"/>
              <a:t>Tinvest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7AD1D5-4A07-FBA7-63CE-ED75D7A6C4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Juan David Rincón</a:t>
            </a:r>
          </a:p>
        </p:txBody>
      </p:sp>
    </p:spTree>
    <p:extLst>
      <p:ext uri="{BB962C8B-B14F-4D97-AF65-F5344CB8AC3E}">
        <p14:creationId xmlns:p14="http://schemas.microsoft.com/office/powerpoint/2010/main" val="1375867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58A69-7D12-1B82-687B-017AB98B9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007" y="278275"/>
            <a:ext cx="10515600" cy="1325563"/>
          </a:xfrm>
        </p:spPr>
        <p:txBody>
          <a:bodyPr/>
          <a:lstStyle/>
          <a:p>
            <a:pPr algn="ctr"/>
            <a:r>
              <a:rPr lang="es-CO" b="1" dirty="0" err="1"/>
              <a:t>Kpis</a:t>
            </a:r>
            <a:r>
              <a:rPr lang="es-CO" b="1" dirty="0"/>
              <a:t> </a:t>
            </a:r>
            <a:r>
              <a:rPr lang="es-CO" b="1" dirty="0" err="1"/>
              <a:t>Tinvest</a:t>
            </a:r>
            <a:endParaRPr lang="es-C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AB04BE6-0E8A-6A80-3C21-8D1E3B0A4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282" y="2057400"/>
            <a:ext cx="3670300" cy="13716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589ED3F-7F86-8FB1-5E63-9F9F7DC43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043" y="1828800"/>
            <a:ext cx="4209658" cy="193777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F2452D5-8730-8EFF-35A1-B510F6BA1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196" y="4336123"/>
            <a:ext cx="4165261" cy="169918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A376CFE-7757-0D0D-2701-027B80A9E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807" y="3896582"/>
            <a:ext cx="4836360" cy="257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2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641B0-4A70-3528-D9C7-767667E19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6553" y="378572"/>
            <a:ext cx="10515600" cy="1325563"/>
          </a:xfrm>
        </p:spPr>
        <p:txBody>
          <a:bodyPr/>
          <a:lstStyle/>
          <a:p>
            <a:r>
              <a:rPr lang="es-CO" b="1" dirty="0"/>
              <a:t>¿Cómo estamos?</a:t>
            </a:r>
            <a:br>
              <a:rPr lang="es-CO" b="1" dirty="0"/>
            </a:br>
            <a:endParaRPr lang="es-CO" b="1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4C741858-C7F4-7570-0DE1-22A270295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446" y="1438836"/>
            <a:ext cx="11521107" cy="529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3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B347-CC4C-8C5E-BA3D-CC6B3E040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09982E-D548-B425-589B-F0B86DA7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0824" y="155106"/>
            <a:ext cx="10515600" cy="1325563"/>
          </a:xfrm>
        </p:spPr>
        <p:txBody>
          <a:bodyPr>
            <a:normAutofit/>
          </a:bodyPr>
          <a:lstStyle/>
          <a:p>
            <a:r>
              <a:rPr lang="es-CO" sz="3600" b="1" dirty="0"/>
              <a:t>Entendamos los casos anómalos Marzo 2024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323F652-D125-F86D-17EA-A51E9A355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689" y="1218373"/>
            <a:ext cx="11351682" cy="548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26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B0E5-5AB6-7655-92D0-5DB4DEC88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B8A5E-B9C2-1E06-40E9-87B3F348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716" y="145669"/>
            <a:ext cx="10515600" cy="1325563"/>
          </a:xfrm>
        </p:spPr>
        <p:txBody>
          <a:bodyPr>
            <a:normAutofit/>
          </a:bodyPr>
          <a:lstStyle/>
          <a:p>
            <a:r>
              <a:rPr lang="es-CO" sz="3600" b="1" dirty="0"/>
              <a:t>Entendamos los casos anómalos Septiembre 2024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E013016-4920-E19B-B886-98AE99299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93" y="1317812"/>
            <a:ext cx="11103953" cy="554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457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F45E4-7810-2900-0807-C34B7821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AC56D-7EB7-A10B-8291-9F60FF51A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7575"/>
            <a:ext cx="10515600" cy="1325563"/>
          </a:xfrm>
        </p:spPr>
        <p:txBody>
          <a:bodyPr>
            <a:normAutofit/>
          </a:bodyPr>
          <a:lstStyle/>
          <a:p>
            <a:r>
              <a:rPr lang="es-CO" sz="3600" b="1" dirty="0"/>
              <a:t>Historia Clientes nuevos/Productos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B8DDD0A-A51C-E2C0-6753-8B72DC7A0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8521"/>
            <a:ext cx="7747822" cy="4211904"/>
          </a:xfrm>
          <a:prstGeom prst="rect">
            <a:avLst/>
          </a:prstGeom>
        </p:spPr>
      </p:pic>
      <p:pic>
        <p:nvPicPr>
          <p:cNvPr id="7" name="Marcador de contenido 3">
            <a:extLst>
              <a:ext uri="{FF2B5EF4-FFF2-40B4-BE49-F238E27FC236}">
                <a16:creationId xmlns:a16="http://schemas.microsoft.com/office/drawing/2014/main" id="{81365F3D-4B24-8D61-D0CE-453AB92BF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911" y="1027906"/>
            <a:ext cx="8559127" cy="386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4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680DB-96E6-880B-D395-3ED5398DB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421A8-F20B-DDD1-6FA3-E1EF57685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El motor de crecimiento funciona, pero el tanque tiene fugas en el segmento más valioso.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637ABB4-954C-FD6A-F61B-CB42B553D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548" y="1690688"/>
            <a:ext cx="8641752" cy="534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00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ACC64B-85BE-AAFA-3183-3CF984963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O" sz="4000" b="1" dirty="0"/>
              <a:t>¿Cómo definimos el </a:t>
            </a:r>
            <a:r>
              <a:rPr lang="es-CO" sz="4000" b="1" dirty="0" err="1"/>
              <a:t>churn</a:t>
            </a:r>
            <a:r>
              <a:rPr lang="es-CO" sz="4000" b="1" dirty="0"/>
              <a:t>? ¿Cuántos días de inactividad y qué saldo mínimo marcan que un cliente ya desertó?</a:t>
            </a:r>
          </a:p>
        </p:txBody>
      </p:sp>
    </p:spTree>
    <p:extLst>
      <p:ext uri="{BB962C8B-B14F-4D97-AF65-F5344CB8AC3E}">
        <p14:creationId xmlns:p14="http://schemas.microsoft.com/office/powerpoint/2010/main" val="1731977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FAE29-7079-E9AD-F951-70A842D9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/>
              <a:t>Gráfica de la curva de latencia (días de silencio vs </a:t>
            </a:r>
            <a:r>
              <a:rPr lang="es-CO" b="1" dirty="0" err="1"/>
              <a:t>prob</a:t>
            </a:r>
            <a:r>
              <a:rPr lang="es-CO" b="1" dirty="0"/>
              <a:t>. de retorno)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5AECD-6C59-08C1-7CAC-3E37C5B59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E1B294-5116-B9C2-0710-8F3D98580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59" y="1555144"/>
            <a:ext cx="10792794" cy="4937731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21EE6881-00D1-4E0F-CC4C-E9C446554C6F}"/>
              </a:ext>
            </a:extLst>
          </p:cNvPr>
          <p:cNvSpPr txBox="1">
            <a:spLocks/>
          </p:cNvSpPr>
          <p:nvPr/>
        </p:nvSpPr>
        <p:spPr>
          <a:xfrm>
            <a:off x="1918447" y="59831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dirty="0">
                <a:solidFill>
                  <a:srgbClr val="FF0000"/>
                </a:solidFill>
              </a:rPr>
              <a:t>Tiempo promedio de silencio: 20.0 días (Tomando todas las transacciones)</a:t>
            </a:r>
          </a:p>
        </p:txBody>
      </p:sp>
    </p:spTree>
    <p:extLst>
      <p:ext uri="{BB962C8B-B14F-4D97-AF65-F5344CB8AC3E}">
        <p14:creationId xmlns:p14="http://schemas.microsoft.com/office/powerpoint/2010/main" val="3835018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1016D-BA35-3BD2-F725-2F2A184F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/>
              <a:t>Cuanto es lo mínimo en saldo para marcar inactividad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43E1C6-C64B-40AD-3D69-1B01A765C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106BED-5FB3-F44F-50B4-073B221B8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0688"/>
            <a:ext cx="10637520" cy="458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58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A3EC5-67D5-2347-AEEE-D301BB8BF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078"/>
            <a:ext cx="10515600" cy="1325563"/>
          </a:xfrm>
        </p:spPr>
        <p:txBody>
          <a:bodyPr>
            <a:normAutofit/>
          </a:bodyPr>
          <a:lstStyle/>
          <a:p>
            <a:r>
              <a:rPr lang="es-CO" sz="4000" b="1" dirty="0"/>
              <a:t>Perfil de clientes que no logran ser retenidos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3757B53-A1FF-C102-66EF-84AA318EA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566" y="993028"/>
            <a:ext cx="11308868" cy="57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33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5B21C-1C1A-ACDF-804E-66D9BE7C3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3600" b="1" dirty="0"/>
              <a:t>¿Qué variables impactan en la clasificación de un </a:t>
            </a:r>
            <a:r>
              <a:rPr lang="es-CO" sz="3600" b="1" dirty="0" err="1"/>
              <a:t>churn</a:t>
            </a:r>
            <a:r>
              <a:rPr lang="es-CO" sz="3600" b="1" dirty="0"/>
              <a:t>?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C4BAB0B-4C1E-674C-32B3-5AF2FE9E6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78748BC-7E97-4D68-9142-8BD36E77F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1553109"/>
            <a:ext cx="11285344" cy="516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69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FB98B-2C16-E292-95C8-1429E96D3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8158-6634-F4A4-BDFB-0D94D4938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54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CO" sz="4000" b="1" dirty="0"/>
              <a:t>¿Cuáles son los clientes que con riesgo de </a:t>
            </a:r>
            <a:r>
              <a:rPr lang="es-CO" sz="4000" b="1" dirty="0" err="1"/>
              <a:t>churn</a:t>
            </a:r>
            <a:r>
              <a:rPr lang="es-CO" sz="4000" b="1" dirty="0"/>
              <a:t> y deben ser salvados?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8C7F48-7263-C158-9A6A-8BC9594BE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06D45E-9136-5EA3-DD36-0415F4FF1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" y="1695784"/>
            <a:ext cx="12185043" cy="502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36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B8CBF-E469-97F7-E73E-ABF9D49B6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Conclusiones Accionables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84125F-BD4B-CBDC-C989-8929032E6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588" y="1452282"/>
            <a:ext cx="10614212" cy="4724681"/>
          </a:xfrm>
        </p:spPr>
        <p:txBody>
          <a:bodyPr>
            <a:normAutofit fontScale="92500" lnSpcReduction="20000"/>
          </a:bodyPr>
          <a:lstStyle/>
          <a:p>
            <a:r>
              <a:rPr lang="es-CO" b="1" dirty="0" err="1"/>
              <a:t>Growth</a:t>
            </a:r>
            <a:r>
              <a:rPr lang="es-CO" b="1" dirty="0"/>
              <a:t> Inmediato:</a:t>
            </a:r>
            <a:r>
              <a:rPr lang="es-CO" dirty="0"/>
              <a:t> Activar comercialmente a las 14 ‘Ballenas sin invertir’.</a:t>
            </a:r>
          </a:p>
          <a:p>
            <a:r>
              <a:rPr lang="es-CO" b="1" dirty="0"/>
              <a:t>Urgencia de Producto:</a:t>
            </a:r>
            <a:r>
              <a:rPr lang="es-CO" dirty="0"/>
              <a:t> Intervenir urgentemente el FPV con incentivos de permanencia o de cruce de producto.</a:t>
            </a:r>
          </a:p>
          <a:p>
            <a:r>
              <a:rPr lang="es-CO" b="1" dirty="0"/>
              <a:t>Fuga Premium:</a:t>
            </a:r>
            <a:r>
              <a:rPr lang="es-CO" dirty="0"/>
              <a:t> Crear un producto de inversión exclusivo para el segmento Premium que detenga su baja retención de capital.</a:t>
            </a:r>
          </a:p>
          <a:p>
            <a:r>
              <a:rPr lang="es-CO" b="1" dirty="0"/>
              <a:t>Eficiencia en reducir </a:t>
            </a:r>
            <a:r>
              <a:rPr lang="es-CO" b="1" dirty="0" err="1"/>
              <a:t>Churn</a:t>
            </a:r>
            <a:r>
              <a:rPr lang="es-CO" b="1" dirty="0"/>
              <a:t>:</a:t>
            </a:r>
            <a:r>
              <a:rPr lang="es-CO" dirty="0"/>
              <a:t> El modelo de </a:t>
            </a:r>
            <a:r>
              <a:rPr lang="es-CO" dirty="0" err="1"/>
              <a:t>churn</a:t>
            </a:r>
            <a:r>
              <a:rPr lang="es-CO" dirty="0"/>
              <a:t> permite priorizar a clientes con alta probabilidad de fuga y alto valor, que son los que realmente vale la pena salvar.</a:t>
            </a:r>
          </a:p>
          <a:p>
            <a:r>
              <a:rPr lang="es-CO" b="1" dirty="0"/>
              <a:t>Campañas</a:t>
            </a:r>
            <a:r>
              <a:rPr lang="es-CO" dirty="0"/>
              <a:t>: La curva de latencia permite conocer a tiempo los clientes que están demorados en realizar transacciones, si el cliente es VIP incentivarlo mover su dinero a tiempo.</a:t>
            </a:r>
          </a:p>
          <a:p>
            <a:r>
              <a:rPr lang="es-CO" dirty="0"/>
              <a:t>No hay clientes nuevos del mediados del 2024. Se debe capturar nuevos clientes.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193859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280</Words>
  <Application>Microsoft Macintosh PowerPoint</Application>
  <PresentationFormat>Panorámica</PresentationFormat>
  <Paragraphs>23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de Office</vt:lpstr>
      <vt:lpstr>Diagnóstico de Salud y Ruta de Rentabilidad - Tinvest</vt:lpstr>
      <vt:lpstr>Kpis Tinvest</vt:lpstr>
      <vt:lpstr>¿Cómo estamos? </vt:lpstr>
      <vt:lpstr>Entendamos los casos anómalos Marzo 2024</vt:lpstr>
      <vt:lpstr>Entendamos los casos anómalos Septiembre 2024</vt:lpstr>
      <vt:lpstr>Historia Clientes nuevos/Productos</vt:lpstr>
      <vt:lpstr>El motor de crecimiento funciona, pero el tanque tiene fugas en el segmento más valioso.</vt:lpstr>
      <vt:lpstr>Presentación de PowerPoint</vt:lpstr>
      <vt:lpstr>Gráfica de la curva de latencia (días de silencio vs prob. de retorno)</vt:lpstr>
      <vt:lpstr>Cuanto es lo mínimo en saldo para marcar inactividad</vt:lpstr>
      <vt:lpstr>Perfil de clientes que no logran ser retenidos</vt:lpstr>
      <vt:lpstr>¿Qué variables impactan en la clasificación de un churn?</vt:lpstr>
      <vt:lpstr>¿Cuáles son los clientes que con riesgo de churn y deben ser salvados?</vt:lpstr>
      <vt:lpstr>Conclusiones Accionables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David Rincon</dc:creator>
  <cp:lastModifiedBy>Juan David Rincon</cp:lastModifiedBy>
  <cp:revision>2</cp:revision>
  <dcterms:created xsi:type="dcterms:W3CDTF">2025-12-07T21:28:13Z</dcterms:created>
  <dcterms:modified xsi:type="dcterms:W3CDTF">2025-12-07T22:24:21Z</dcterms:modified>
</cp:coreProperties>
</file>